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sv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81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3139135" cy="6858000"/>
          </a:xfrm>
          <a:prstGeom prst="rect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30352" y="38404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" y="420624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7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 ROUND</a:t>
            </a:r>
            <a:endParaRPr lang="en-US" sz="850" dirty="0"/>
          </a:p>
        </p:txBody>
      </p:sp>
      <p:pic>
        <p:nvPicPr>
          <p:cNvPr id="6" name="Image 0" descr="C:\Users\zahee\OneDrive\Desktop\zip\app\public\images\logo-wordmark-light.sv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12064" y="749808"/>
            <a:ext cx="3383280" cy="12618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30352" y="1920240"/>
            <a:ext cx="5394960" cy="40233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Trusted Real Estate Intelligence + Operations Platform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30352" y="2395728"/>
            <a:ext cx="502920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E4E7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multi-sided product for buyers, owners, builders, and operators. This deck uses live product screenshots so the pitch stays concrete and credible.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66928" y="4261104"/>
            <a:ext cx="1847088" cy="1078992"/>
          </a:xfrm>
          <a:prstGeom prst="roundRect">
            <a:avLst>
              <a:gd name="adj" fmla="val 6780"/>
            </a:avLst>
          </a:prstGeom>
          <a:solidFill>
            <a:srgbClr val="0B1F44"/>
          </a:solidFill>
          <a:ln w="12700">
            <a:solidFill>
              <a:srgbClr val="163766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713232" y="4389120"/>
            <a:ext cx="73152" cy="8229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96112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896112" y="464515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Search, compare, save, message, and convert buyer demand.</a:t>
            </a:r>
            <a:endParaRPr lang="en-US" sz="1020" dirty="0"/>
          </a:p>
        </p:txBody>
      </p:sp>
      <p:sp>
        <p:nvSpPr>
          <p:cNvPr id="13" name="Shape 10"/>
          <p:cNvSpPr/>
          <p:nvPr/>
        </p:nvSpPr>
        <p:spPr>
          <a:xfrm>
            <a:off x="2542032" y="4261104"/>
            <a:ext cx="1847088" cy="1078992"/>
          </a:xfrm>
          <a:prstGeom prst="roundRect">
            <a:avLst>
              <a:gd name="adj" fmla="val 6780"/>
            </a:avLst>
          </a:prstGeom>
          <a:solidFill>
            <a:srgbClr val="0B1F44"/>
          </a:solidFill>
          <a:ln w="12700">
            <a:solidFill>
              <a:srgbClr val="163766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2688336" y="4389120"/>
            <a:ext cx="73152" cy="8229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2871216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Intelligence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2871216" y="464515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pricing, infra signals, and decision-support context.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4517136" y="4261104"/>
            <a:ext cx="1847088" cy="1078992"/>
          </a:xfrm>
          <a:prstGeom prst="roundRect">
            <a:avLst>
              <a:gd name="adj" fmla="val 6780"/>
            </a:avLst>
          </a:prstGeom>
          <a:solidFill>
            <a:srgbClr val="0B1F44"/>
          </a:solidFill>
          <a:ln w="12700">
            <a:solidFill>
              <a:srgbClr val="163766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4663440" y="4389120"/>
            <a:ext cx="73152" cy="8229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4846320" y="4425696"/>
            <a:ext cx="13533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Operations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4846320" y="4645152"/>
            <a:ext cx="1353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tools, builder workflows, approvals, and platform control.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6473952" y="566928"/>
            <a:ext cx="5193792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6638544" y="713232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693408" y="749808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</a:t>
            </a:r>
            <a:endParaRPr lang="en-US" sz="850" dirty="0"/>
          </a:p>
        </p:txBody>
      </p:sp>
      <p:sp>
        <p:nvSpPr>
          <p:cNvPr id="24" name="Text 21"/>
          <p:cNvSpPr/>
          <p:nvPr/>
        </p:nvSpPr>
        <p:spPr>
          <a:xfrm>
            <a:off x="6656832" y="987552"/>
            <a:ext cx="48280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Product Surface</a:t>
            </a:r>
            <a:endParaRPr lang="en-US" sz="1350" dirty="0"/>
          </a:p>
        </p:txBody>
      </p:sp>
      <p:pic>
        <p:nvPicPr>
          <p:cNvPr id="25" name="Image 1" descr="C:\Users\zahee\OneDrive\Desktop\zip\docs\pitch-assets\screenshots\01-ho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8544" y="1316736"/>
            <a:ext cx="4864608" cy="2331720"/>
          </a:xfrm>
          <a:prstGeom prst="rect">
            <a:avLst/>
          </a:prstGeom>
        </p:spPr>
      </p:pic>
      <p:sp>
        <p:nvSpPr>
          <p:cNvPr id="26" name="Text 22"/>
          <p:cNvSpPr/>
          <p:nvPr/>
        </p:nvSpPr>
        <p:spPr>
          <a:xfrm>
            <a:off x="6656832" y="3685032"/>
            <a:ext cx="4828032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 and feature navigation</a:t>
            </a:r>
            <a:endParaRPr lang="en-US" sz="950" dirty="0"/>
          </a:p>
        </p:txBody>
      </p:sp>
      <p:sp>
        <p:nvSpPr>
          <p:cNvPr id="27" name="Shape 23"/>
          <p:cNvSpPr/>
          <p:nvPr/>
        </p:nvSpPr>
        <p:spPr>
          <a:xfrm>
            <a:off x="6473952" y="4096512"/>
            <a:ext cx="24871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638544" y="4242816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693408" y="4279392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</a:t>
            </a:r>
            <a:endParaRPr lang="en-US" sz="850" dirty="0"/>
          </a:p>
        </p:txBody>
      </p:sp>
      <p:sp>
        <p:nvSpPr>
          <p:cNvPr id="30" name="Text 26"/>
          <p:cNvSpPr/>
          <p:nvPr/>
        </p:nvSpPr>
        <p:spPr>
          <a:xfrm>
            <a:off x="6656832" y="4517136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Consumer</a:t>
            </a:r>
            <a:endParaRPr lang="en-US" sz="1350" dirty="0"/>
          </a:p>
        </p:txBody>
      </p:sp>
      <p:pic>
        <p:nvPicPr>
          <p:cNvPr id="31" name="Image 2" descr="C:\Users\zahee\OneDrive\Desktop\zip\docs\pitch-assets\screenshots\02-buy-marketpla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38544" y="4846320"/>
            <a:ext cx="2157984" cy="868680"/>
          </a:xfrm>
          <a:prstGeom prst="rect">
            <a:avLst/>
          </a:prstGeom>
        </p:spPr>
      </p:pic>
      <p:sp>
        <p:nvSpPr>
          <p:cNvPr id="32" name="Text 27"/>
          <p:cNvSpPr/>
          <p:nvPr/>
        </p:nvSpPr>
        <p:spPr>
          <a:xfrm>
            <a:off x="6656832" y="5751576"/>
            <a:ext cx="21214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 flow</a:t>
            </a:r>
            <a:endParaRPr lang="en-US" sz="950" dirty="0"/>
          </a:p>
        </p:txBody>
      </p:sp>
      <p:sp>
        <p:nvSpPr>
          <p:cNvPr id="33" name="Shape 28"/>
          <p:cNvSpPr/>
          <p:nvPr/>
        </p:nvSpPr>
        <p:spPr>
          <a:xfrm>
            <a:off x="9180576" y="4096512"/>
            <a:ext cx="2487168" cy="1874520"/>
          </a:xfrm>
          <a:prstGeom prst="roundRect">
            <a:avLst>
              <a:gd name="adj" fmla="val 390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345168" y="4242816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35" name="Text 30"/>
          <p:cNvSpPr/>
          <p:nvPr/>
        </p:nvSpPr>
        <p:spPr>
          <a:xfrm>
            <a:off x="9400032" y="4279392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50" dirty="0"/>
          </a:p>
        </p:txBody>
      </p:sp>
      <p:sp>
        <p:nvSpPr>
          <p:cNvPr id="36" name="Text 31"/>
          <p:cNvSpPr/>
          <p:nvPr/>
        </p:nvSpPr>
        <p:spPr>
          <a:xfrm>
            <a:off x="9363456" y="4517136"/>
            <a:ext cx="212140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Monetization</a:t>
            </a:r>
            <a:endParaRPr lang="en-US" sz="1350" dirty="0"/>
          </a:p>
        </p:txBody>
      </p:sp>
      <p:pic>
        <p:nvPicPr>
          <p:cNvPr id="37" name="Image 3" descr="C:\Users\zahee\OneDrive\Desktop\zip\docs\pitch-assets\screenshots\08-owner-dashboar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45168" y="4846320"/>
            <a:ext cx="2157984" cy="868680"/>
          </a:xfrm>
          <a:prstGeom prst="rect">
            <a:avLst/>
          </a:prstGeom>
        </p:spPr>
      </p:pic>
      <p:sp>
        <p:nvSpPr>
          <p:cNvPr id="38" name="Text 32"/>
          <p:cNvSpPr/>
          <p:nvPr/>
        </p:nvSpPr>
        <p:spPr>
          <a:xfrm>
            <a:off x="9363456" y="5751576"/>
            <a:ext cx="212140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Dashboard layer</a:t>
            </a:r>
            <a:endParaRPr lang="en-US" sz="950" dirty="0"/>
          </a:p>
        </p:txBody>
      </p:sp>
      <p:sp>
        <p:nvSpPr>
          <p:cNvPr id="39" name="Text 33"/>
          <p:cNvSpPr/>
          <p:nvPr/>
        </p:nvSpPr>
        <p:spPr>
          <a:xfrm>
            <a:off x="475488" y="6510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Realty</a:t>
            </a:r>
            <a:endParaRPr lang="en-US" sz="850" dirty="0"/>
          </a:p>
        </p:txBody>
      </p:sp>
      <p:sp>
        <p:nvSpPr>
          <p:cNvPr id="40" name="Text 34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Founding-round deck | live product screenshots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29184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 THESIS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Real estate discovery is fragmented. ZDT connects the whole workflow.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thesis is simple: users do not only need listings. They need decision support, trust, and operating tools around the listing.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572768"/>
            <a:ext cx="2788920" cy="3639312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737360"/>
            <a:ext cx="73152" cy="331012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7393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Buyer problem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59536" y="2176272"/>
            <a:ext cx="22951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Users jump between property portals, infrastructure news, market trends, and trust checks before they feel confident enough to act.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511296" y="1572768"/>
            <a:ext cx="2788920" cy="3639312"/>
          </a:xfrm>
          <a:prstGeom prst="roundRect">
            <a:avLst>
              <a:gd name="adj" fmla="val 262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657600" y="1737360"/>
            <a:ext cx="73152" cy="331012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40480" y="1773936"/>
            <a:ext cx="22951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 / builder problem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840480" y="2176272"/>
            <a:ext cx="229514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Supply-side users need lead flow, analytics, promotions, approvals, and workspace tools after a listing is live.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6492240" y="1572768"/>
            <a:ext cx="2615184" cy="3639312"/>
          </a:xfrm>
          <a:prstGeom prst="roundRect">
            <a:avLst>
              <a:gd name="adj" fmla="val 279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638544" y="1737360"/>
            <a:ext cx="73152" cy="331012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21424" y="1773936"/>
            <a:ext cx="21214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ZDT adds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821424" y="2176272"/>
            <a:ext cx="2121408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Marketplace, intelligence, trust-led modules, owner monetization, builder tools, and admin governance in one platform.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9290304" y="1572768"/>
            <a:ext cx="2377440" cy="3639312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9436608" y="1737360"/>
            <a:ext cx="73152" cy="331012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19488" y="1773936"/>
            <a:ext cx="188366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Positioning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9619488" y="2176272"/>
            <a:ext cx="1883664" cy="2852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 another listing portal. A real-estate operating layer for India.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02920" y="6016752"/>
            <a:ext cx="11183112" cy="41148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6117336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turns fragmented search, trust, and operations into one connected product stack.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6510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Realty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Founding-round deck | live product screenshots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29184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OVERVIEW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modular surface that already looks like a platform, not a single-feature app.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homepage acts as the product map across marketplace, intelligence, services, and operator workflows.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444752"/>
            <a:ext cx="6784848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591056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27632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865376"/>
            <a:ext cx="6419088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Entry Point</a:t>
            </a:r>
            <a:endParaRPr lang="en-US" sz="1350" dirty="0"/>
          </a:p>
        </p:txBody>
      </p:sp>
      <p:pic>
        <p:nvPicPr>
          <p:cNvPr id="11" name="Image 0" descr="C:\Users\zahee\OneDrive\Desktop\zip\docs\pitch-assets\screenshots\01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194560"/>
            <a:ext cx="6455664" cy="3429000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5705856"/>
            <a:ext cx="6419088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Homepage: marketplace, intelligence, trust, and operator modules in one surface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7571232" y="1572768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7717536" y="1700784"/>
            <a:ext cx="73152" cy="914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7900416" y="1737360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Multi-entry navigation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900416" y="1956816"/>
            <a:ext cx="3575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Buy, rent, projects, insights, infrastructure, e-auctions, group deals, and operator modules are accessible from one product shell.</a:t>
            </a:r>
            <a:endParaRPr lang="en-US" sz="1020" dirty="0"/>
          </a:p>
        </p:txBody>
      </p:sp>
      <p:sp>
        <p:nvSpPr>
          <p:cNvPr id="17" name="Shape 14"/>
          <p:cNvSpPr/>
          <p:nvPr/>
        </p:nvSpPr>
        <p:spPr>
          <a:xfrm>
            <a:off x="7571232" y="2889504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7717536" y="3017520"/>
            <a:ext cx="73152" cy="91440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7900416" y="3054096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High-impact modules</a:t>
            </a:r>
            <a:endParaRPr lang="en-US" sz="1500" dirty="0"/>
          </a:p>
        </p:txBody>
      </p:sp>
      <p:sp>
        <p:nvSpPr>
          <p:cNvPr id="20" name="Text 17"/>
          <p:cNvSpPr/>
          <p:nvPr/>
        </p:nvSpPr>
        <p:spPr>
          <a:xfrm>
            <a:off x="7900416" y="3273552"/>
            <a:ext cx="3575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already communicates clear strategic bets: intelligence, trust, B2B tooling, and monetization.</a:t>
            </a:r>
            <a:endParaRPr lang="en-US" sz="1020" dirty="0"/>
          </a:p>
        </p:txBody>
      </p:sp>
      <p:sp>
        <p:nvSpPr>
          <p:cNvPr id="21" name="Shape 18"/>
          <p:cNvSpPr/>
          <p:nvPr/>
        </p:nvSpPr>
        <p:spPr>
          <a:xfrm>
            <a:off x="7571232" y="4206240"/>
            <a:ext cx="4069080" cy="1170432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7717536" y="4334256"/>
            <a:ext cx="73152" cy="91440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7900416" y="4370832"/>
            <a:ext cx="35753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Demo-ready structure</a:t>
            </a:r>
            <a:endParaRPr lang="en-US" sz="1500" dirty="0"/>
          </a:p>
        </p:txBody>
      </p:sp>
      <p:sp>
        <p:nvSpPr>
          <p:cNvPr id="24" name="Text 21"/>
          <p:cNvSpPr/>
          <p:nvPr/>
        </p:nvSpPr>
        <p:spPr>
          <a:xfrm>
            <a:off x="7900416" y="4590288"/>
            <a:ext cx="3575304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interviews and pitches, this gives you a strong story: broad capability with visible product depth.</a:t>
            </a:r>
            <a:endParaRPr lang="en-US" sz="1020" dirty="0"/>
          </a:p>
        </p:txBody>
      </p:sp>
      <p:sp>
        <p:nvSpPr>
          <p:cNvPr id="25" name="Text 22"/>
          <p:cNvSpPr/>
          <p:nvPr/>
        </p:nvSpPr>
        <p:spPr>
          <a:xfrm>
            <a:off x="475488" y="6510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Realty</a:t>
            </a:r>
            <a:endParaRPr lang="en-US" sz="850" dirty="0"/>
          </a:p>
        </p:txBody>
      </p:sp>
      <p:sp>
        <p:nvSpPr>
          <p:cNvPr id="26" name="Text 23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Founding-round deck | live product screenshots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29184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CONSUMER JOURNEY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consumer side is built around conversion, not just browsing.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 and rent are structured as full marketplace journeys with decision and action layers.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48640" y="1536192"/>
            <a:ext cx="3154680" cy="3621024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700784"/>
            <a:ext cx="73152" cy="329184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77824" y="1737360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the user can do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77824" y="2139696"/>
            <a:ext cx="2660904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listings, filter inventory, save searches, compare properties, message directly, request callbacks, and schedule site visits.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48640" y="4590288"/>
            <a:ext cx="3154680" cy="877824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94944" y="4718304"/>
            <a:ext cx="73152" cy="621792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77824" y="4754880"/>
            <a:ext cx="26609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it matters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77824" y="4974336"/>
            <a:ext cx="26609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This gives ZDT a stronger demand-side engagement and lead-conversion story than a static listing catalog.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913632" y="1444752"/>
            <a:ext cx="7735824" cy="4480560"/>
          </a:xfrm>
          <a:prstGeom prst="roundRect">
            <a:avLst>
              <a:gd name="adj" fmla="val 1633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078224" y="1591056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33088" y="1627632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4096512" y="1865376"/>
            <a:ext cx="737006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Buy Marketplace</a:t>
            </a:r>
            <a:endParaRPr lang="en-US" sz="1350" dirty="0"/>
          </a:p>
        </p:txBody>
      </p:sp>
      <p:pic>
        <p:nvPicPr>
          <p:cNvPr id="19" name="Image 0" descr="C:\Users\zahee\OneDrive\Desktop\zip\docs\pitch-assets\screenshots\02-buy-marketpla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8224" y="2194560"/>
            <a:ext cx="7406640" cy="3438144"/>
          </a:xfrm>
          <a:prstGeom prst="rect">
            <a:avLst/>
          </a:prstGeom>
        </p:spPr>
      </p:pic>
      <p:sp>
        <p:nvSpPr>
          <p:cNvPr id="20" name="Text 17"/>
          <p:cNvSpPr/>
          <p:nvPr/>
        </p:nvSpPr>
        <p:spPr>
          <a:xfrm>
            <a:off x="4096512" y="5705856"/>
            <a:ext cx="737006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Filters, listing cards, saved-search flow, and user conversion actions</a:t>
            </a:r>
            <a:endParaRPr lang="en-US" sz="950" dirty="0"/>
          </a:p>
        </p:txBody>
      </p:sp>
      <p:sp>
        <p:nvSpPr>
          <p:cNvPr id="21" name="Text 18"/>
          <p:cNvSpPr/>
          <p:nvPr/>
        </p:nvSpPr>
        <p:spPr>
          <a:xfrm>
            <a:off x="475488" y="6510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Realty</a:t>
            </a:r>
            <a:endParaRPr lang="en-US" sz="850" dirty="0"/>
          </a:p>
        </p:txBody>
      </p:sp>
      <p:sp>
        <p:nvSpPr>
          <p:cNvPr id="22" name="Text 19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Founding-round deck | live product screenshots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81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3139135" cy="6858000"/>
          </a:xfrm>
          <a:prstGeom prst="rect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329184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7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INTELLIGENCE LAYER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Decision support is one of the clearest product differentiators.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combines real-estate market data with infrastructure visibility so users do not have to leave the platform to evaluate context.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36192"/>
            <a:ext cx="548640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682496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19072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INFRA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195681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Infrastructure Tracker</a:t>
            </a:r>
            <a:endParaRPr lang="en-US" sz="1350" dirty="0"/>
          </a:p>
        </p:txBody>
      </p:sp>
      <p:pic>
        <p:nvPicPr>
          <p:cNvPr id="12" name="Image 0" descr="C:\Users\zahee\OneDrive\Desktop\zip\docs\pitch-assets\screenshots\03-infrastructure-track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86000"/>
            <a:ext cx="5157216" cy="3127248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5541264"/>
            <a:ext cx="5120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Geography, verification level, and alerting controls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181344" y="1536192"/>
            <a:ext cx="5486400" cy="4224528"/>
          </a:xfrm>
          <a:prstGeom prst="roundRect">
            <a:avLst>
              <a:gd name="adj" fmla="val 1732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345936" y="1682496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400800" y="1719072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MARKET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364224" y="1956816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Market Price Tracker</a:t>
            </a:r>
            <a:endParaRPr lang="en-US" sz="1350" dirty="0"/>
          </a:p>
        </p:txBody>
      </p:sp>
      <p:pic>
        <p:nvPicPr>
          <p:cNvPr id="18" name="Image 1" descr="C:\Users\zahee\OneDrive\Desktop\zip\docs\pitch-assets\screenshots\04-insights-market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2286000"/>
            <a:ext cx="5157216" cy="3127248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364224" y="5541264"/>
            <a:ext cx="5120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Pricing movement, city comparison, and decision-support context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02920" y="5925312"/>
            <a:ext cx="11183112" cy="411480"/>
          </a:xfrm>
          <a:prstGeom prst="roundRect">
            <a:avLst>
              <a:gd name="adj" fmla="val 8889"/>
            </a:avLst>
          </a:prstGeom>
          <a:solidFill>
            <a:srgbClr val="163766"/>
          </a:solidFill>
          <a:ln w="12700">
            <a:solidFill>
              <a:srgbClr val="163766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731520" y="6025896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moat is not only inventory. It is the intelligence layer around inventory.</a:t>
            </a:r>
            <a:endParaRPr lang="en-US" sz="1100" dirty="0"/>
          </a:p>
        </p:txBody>
      </p:sp>
      <p:sp>
        <p:nvSpPr>
          <p:cNvPr id="22" name="Text 18"/>
          <p:cNvSpPr/>
          <p:nvPr/>
        </p:nvSpPr>
        <p:spPr>
          <a:xfrm>
            <a:off x="475488" y="6510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Realty</a:t>
            </a:r>
            <a:endParaRPr lang="en-US" sz="850" dirty="0"/>
          </a:p>
        </p:txBody>
      </p:sp>
      <p:sp>
        <p:nvSpPr>
          <p:cNvPr id="23" name="Text 19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Founding-round deck | live product screenshots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29184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MODULES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ZDT stands out through trust-led discovery modules.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modules are strong pitch points because they show differentiated product thinking, not just listing replication.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481328"/>
            <a:ext cx="5486400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94944" y="1627632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1664208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713232" y="19019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Government &amp; Bank E-Auctions</a:t>
            </a:r>
            <a:endParaRPr lang="en-US" sz="1350" dirty="0"/>
          </a:p>
        </p:txBody>
      </p:sp>
      <p:pic>
        <p:nvPicPr>
          <p:cNvPr id="11" name="Image 0" descr="C:\Users\zahee\OneDrive\Desktop\zip\docs\pitch-assets\screenshots\05-eauc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31136"/>
            <a:ext cx="5157216" cy="2980944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713232" y="5303520"/>
            <a:ext cx="5120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Official-source discovery for high-trust opportunity flows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6181344" y="1481328"/>
            <a:ext cx="5486400" cy="4041648"/>
          </a:xfrm>
          <a:prstGeom prst="roundRect">
            <a:avLst>
              <a:gd name="adj" fmla="val 181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6345936" y="1627632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6400800" y="1664208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DEMAND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6364224" y="1901952"/>
            <a:ext cx="512064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Group Purchase Deals</a:t>
            </a:r>
            <a:endParaRPr lang="en-US" sz="1350" dirty="0"/>
          </a:p>
        </p:txBody>
      </p:sp>
      <p:pic>
        <p:nvPicPr>
          <p:cNvPr id="17" name="Image 1" descr="C:\Users\zahee\OneDrive\Desktop\zip\docs\pitch-assets\screenshots\06-group-de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5936" y="2231136"/>
            <a:ext cx="5157216" cy="2980944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6364224" y="5303520"/>
            <a:ext cx="512064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Verified-builder filtering and demand aggregation</a:t>
            </a:r>
            <a:endParaRPr lang="en-US" sz="950" dirty="0"/>
          </a:p>
        </p:txBody>
      </p:sp>
      <p:sp>
        <p:nvSpPr>
          <p:cNvPr id="19" name="Shape 15"/>
          <p:cNvSpPr/>
          <p:nvPr/>
        </p:nvSpPr>
        <p:spPr>
          <a:xfrm>
            <a:off x="530352" y="5650992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0" name="Shape 16"/>
          <p:cNvSpPr/>
          <p:nvPr/>
        </p:nvSpPr>
        <p:spPr>
          <a:xfrm>
            <a:off x="676656" y="5760720"/>
            <a:ext cx="73152" cy="384048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1" name="Text 17"/>
          <p:cNvSpPr/>
          <p:nvPr/>
        </p:nvSpPr>
        <p:spPr>
          <a:xfrm>
            <a:off x="859536" y="5779008"/>
            <a:ext cx="4809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note</a:t>
            </a:r>
            <a:endParaRPr lang="en-US" sz="1250" dirty="0"/>
          </a:p>
        </p:txBody>
      </p:sp>
      <p:sp>
        <p:nvSpPr>
          <p:cNvPr id="22" name="Text 18"/>
          <p:cNvSpPr/>
          <p:nvPr/>
        </p:nvSpPr>
        <p:spPr>
          <a:xfrm>
            <a:off x="859536" y="5961888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does not conduct auctions. It redirects users to official portals.</a:t>
            </a:r>
            <a:endParaRPr lang="en-US" sz="880" dirty="0"/>
          </a:p>
        </p:txBody>
      </p:sp>
      <p:sp>
        <p:nvSpPr>
          <p:cNvPr id="23" name="Shape 19"/>
          <p:cNvSpPr/>
          <p:nvPr/>
        </p:nvSpPr>
        <p:spPr>
          <a:xfrm>
            <a:off x="6364224" y="5650992"/>
            <a:ext cx="5303520" cy="603504"/>
          </a:xfrm>
          <a:prstGeom prst="roundRect">
            <a:avLst>
              <a:gd name="adj" fmla="val 12121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6510528" y="5760720"/>
            <a:ext cx="73152" cy="384048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5" name="Text 21"/>
          <p:cNvSpPr/>
          <p:nvPr/>
        </p:nvSpPr>
        <p:spPr>
          <a:xfrm>
            <a:off x="6693408" y="5779008"/>
            <a:ext cx="480974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note</a:t>
            </a:r>
            <a:endParaRPr lang="en-US" sz="1250" dirty="0"/>
          </a:p>
        </p:txBody>
      </p:sp>
      <p:sp>
        <p:nvSpPr>
          <p:cNvPr id="26" name="Text 22"/>
          <p:cNvSpPr/>
          <p:nvPr/>
        </p:nvSpPr>
        <p:spPr>
          <a:xfrm>
            <a:off x="6693408" y="5961888"/>
            <a:ext cx="480974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does not collect group booking money. It facilitates qualified buyer-builder connection.</a:t>
            </a:r>
            <a:endParaRPr lang="en-US" sz="880" dirty="0"/>
          </a:p>
        </p:txBody>
      </p:sp>
      <p:sp>
        <p:nvSpPr>
          <p:cNvPr id="27" name="Text 23"/>
          <p:cNvSpPr/>
          <p:nvPr/>
        </p:nvSpPr>
        <p:spPr>
          <a:xfrm>
            <a:off x="475488" y="6510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Realty</a:t>
            </a:r>
            <a:endParaRPr lang="en-US" sz="850" dirty="0"/>
          </a:p>
        </p:txBody>
      </p:sp>
      <p:sp>
        <p:nvSpPr>
          <p:cNvPr id="28" name="Text 24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Founding-round deck | live product screenshots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817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052560" y="0"/>
            <a:ext cx="3139135" cy="6858000"/>
          </a:xfrm>
          <a:prstGeom prst="rect">
            <a:avLst/>
          </a:prstGeom>
          <a:solidFill>
            <a:srgbClr val="2563EB">
              <a:alpha val="14000"/>
            </a:srgbClr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02920" y="29260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FFFFFF">
              <a:alpha val="12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6072" y="329184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0817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ENGINE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0292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business model works because the product serves both sides of the market.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502920" y="113385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is not only a consumer experience. It also acts as software for builders, dealers, and owners.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30352" y="1517904"/>
            <a:ext cx="5632704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94944" y="1664208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49808" y="1700784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B2B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713232" y="1938528"/>
            <a:ext cx="5266944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Builder / Dealer Operating Layer</a:t>
            </a:r>
            <a:endParaRPr lang="en-US" sz="1350" dirty="0"/>
          </a:p>
        </p:txBody>
      </p:sp>
      <p:pic>
        <p:nvPicPr>
          <p:cNvPr id="12" name="Image 0" descr="C:\Users\zahee\OneDrive\Desktop\zip\docs\pitch-assets\screenshots\07-dealers-build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4944" y="2267712"/>
            <a:ext cx="5303520" cy="2999232"/>
          </a:xfrm>
          <a:prstGeom prst="rect">
            <a:avLst/>
          </a:prstGeom>
        </p:spPr>
      </p:pic>
      <p:sp>
        <p:nvSpPr>
          <p:cNvPr id="13" name="Text 10"/>
          <p:cNvSpPr/>
          <p:nvPr/>
        </p:nvSpPr>
        <p:spPr>
          <a:xfrm>
            <a:off x="713232" y="5413248"/>
            <a:ext cx="5266944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Project tools, lead tools, promotions, team access, and trust structure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6364224" y="1517904"/>
            <a:ext cx="530352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528816" y="1664208"/>
            <a:ext cx="1005840" cy="219456"/>
          </a:xfrm>
          <a:prstGeom prst="roundRect">
            <a:avLst>
              <a:gd name="adj" fmla="val 12500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583680" y="1700784"/>
            <a:ext cx="896112" cy="1097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6547104" y="1938528"/>
            <a:ext cx="493776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 Monetization Layer</a:t>
            </a:r>
            <a:endParaRPr lang="en-US" sz="1350" dirty="0"/>
          </a:p>
        </p:txBody>
      </p:sp>
      <p:pic>
        <p:nvPicPr>
          <p:cNvPr id="18" name="Image 1" descr="C:\Users\zahee\OneDrive\Desktop\zip\docs\pitch-assets\screenshots\08-owner-dashboar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28816" y="2267712"/>
            <a:ext cx="4974336" cy="299923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6547104" y="5413248"/>
            <a:ext cx="4937760" cy="1280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Listings, leads, views, conversion, subscriptions, and boosts</a:t>
            </a:r>
            <a:endParaRPr lang="en-US" sz="950" dirty="0"/>
          </a:p>
        </p:txBody>
      </p:sp>
      <p:sp>
        <p:nvSpPr>
          <p:cNvPr id="20" name="Shape 16"/>
          <p:cNvSpPr/>
          <p:nvPr/>
        </p:nvSpPr>
        <p:spPr>
          <a:xfrm>
            <a:off x="530352" y="5742432"/>
            <a:ext cx="35661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1" name="Shape 17"/>
          <p:cNvSpPr/>
          <p:nvPr/>
        </p:nvSpPr>
        <p:spPr>
          <a:xfrm>
            <a:off x="676656" y="5852160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859536" y="58704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Builder revenue</a:t>
            </a:r>
            <a:endParaRPr lang="en-US" sz="1250" dirty="0"/>
          </a:p>
        </p:txBody>
      </p:sp>
      <p:sp>
        <p:nvSpPr>
          <p:cNvPr id="23" name="Text 19"/>
          <p:cNvSpPr/>
          <p:nvPr/>
        </p:nvSpPr>
        <p:spPr>
          <a:xfrm>
            <a:off x="859536" y="605332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Company plans, promotions, and later enterprise tooling.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4315968" y="5742432"/>
            <a:ext cx="35661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5" name="Shape 21"/>
          <p:cNvSpPr/>
          <p:nvPr/>
        </p:nvSpPr>
        <p:spPr>
          <a:xfrm>
            <a:off x="4462272" y="5852160"/>
            <a:ext cx="73152" cy="3657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645152" y="58704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Owner revenue</a:t>
            </a:r>
            <a:endParaRPr lang="en-US" sz="1250" dirty="0"/>
          </a:p>
        </p:txBody>
      </p:sp>
      <p:sp>
        <p:nvSpPr>
          <p:cNvPr id="27" name="Text 23"/>
          <p:cNvSpPr/>
          <p:nvPr/>
        </p:nvSpPr>
        <p:spPr>
          <a:xfrm>
            <a:off x="4645152" y="605332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Subscriptions, boosts, and premium visibility.</a:t>
            </a:r>
            <a:endParaRPr lang="en-US" sz="880" dirty="0"/>
          </a:p>
        </p:txBody>
      </p:sp>
      <p:sp>
        <p:nvSpPr>
          <p:cNvPr id="28" name="Shape 24"/>
          <p:cNvSpPr/>
          <p:nvPr/>
        </p:nvSpPr>
        <p:spPr>
          <a:xfrm>
            <a:off x="8101584" y="5742432"/>
            <a:ext cx="3566160" cy="585216"/>
          </a:xfrm>
          <a:prstGeom prst="roundRect">
            <a:avLst>
              <a:gd name="adj" fmla="val 1250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29" name="Shape 25"/>
          <p:cNvSpPr/>
          <p:nvPr/>
        </p:nvSpPr>
        <p:spPr>
          <a:xfrm>
            <a:off x="8247888" y="5852160"/>
            <a:ext cx="73152" cy="3657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30" name="Text 26"/>
          <p:cNvSpPr/>
          <p:nvPr/>
        </p:nvSpPr>
        <p:spPr>
          <a:xfrm>
            <a:off x="8430768" y="5870448"/>
            <a:ext cx="3072384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Platform upside</a:t>
            </a:r>
            <a:endParaRPr lang="en-US" sz="1250" dirty="0"/>
          </a:p>
        </p:txBody>
      </p:sp>
      <p:sp>
        <p:nvSpPr>
          <p:cNvPr id="31" name="Text 27"/>
          <p:cNvSpPr/>
          <p:nvPr/>
        </p:nvSpPr>
        <p:spPr>
          <a:xfrm>
            <a:off x="8430768" y="6053328"/>
            <a:ext cx="3072384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Multi-sided monetization with stronger retention loops.</a:t>
            </a:r>
            <a:endParaRPr lang="en-US" sz="880" dirty="0"/>
          </a:p>
        </p:txBody>
      </p:sp>
      <p:sp>
        <p:nvSpPr>
          <p:cNvPr id="32" name="Text 28"/>
          <p:cNvSpPr/>
          <p:nvPr/>
        </p:nvSpPr>
        <p:spPr>
          <a:xfrm>
            <a:off x="475488" y="6510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Realty</a:t>
            </a:r>
            <a:endParaRPr lang="en-US" sz="850" dirty="0"/>
          </a:p>
        </p:txBody>
      </p:sp>
      <p:sp>
        <p:nvSpPr>
          <p:cNvPr id="33" name="Text 29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Founding-round deck | live product screenshots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02920" y="292608"/>
            <a:ext cx="1691640" cy="256032"/>
          </a:xfrm>
          <a:prstGeom prst="roundRect">
            <a:avLst>
              <a:gd name="adj" fmla="val 14286"/>
            </a:avLst>
          </a:prstGeom>
          <a:solidFill>
            <a:srgbClr val="DBEAFE"/>
          </a:solidFill>
          <a:ln w="12700">
            <a:solidFill>
              <a:srgbClr val="DBEAFE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6072" y="329184"/>
            <a:ext cx="1536192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658368"/>
            <a:ext cx="6949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stronger way to say it in the interview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502920" y="1133856"/>
            <a:ext cx="106984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product story is most compelling when it is framed as a trusted operating system, not only as a property portal.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530352" y="1554480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676656" y="1682496"/>
            <a:ext cx="73152" cy="8229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9536" y="1719072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layer 1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859536" y="1938528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Owner subscriptions, boosts, and visibility products.</a:t>
            </a:r>
            <a:endParaRPr lang="en-US" sz="1020" dirty="0"/>
          </a:p>
        </p:txBody>
      </p:sp>
      <p:sp>
        <p:nvSpPr>
          <p:cNvPr id="11" name="Shape 9"/>
          <p:cNvSpPr/>
          <p:nvPr/>
        </p:nvSpPr>
        <p:spPr>
          <a:xfrm>
            <a:off x="530352" y="2779776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676656" y="2907792"/>
            <a:ext cx="73152" cy="822960"/>
          </a:xfrm>
          <a:prstGeom prst="roundRect">
            <a:avLst>
              <a:gd name="adj" fmla="val 25000"/>
            </a:avLst>
          </a:prstGeom>
          <a:solidFill>
            <a:srgbClr val="06B6D4"/>
          </a:solidFill>
          <a:ln w="12700">
            <a:solidFill>
              <a:srgbClr val="06B6D4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59536" y="2944368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layer 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59536" y="3163824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Builder and dealer plans, promotional inventory, and B2B workspace tools.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530352" y="4005072"/>
            <a:ext cx="361188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D0D5DD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76656" y="4133088"/>
            <a:ext cx="73152" cy="822960"/>
          </a:xfrm>
          <a:prstGeom prst="roundRect">
            <a:avLst>
              <a:gd name="adj" fmla="val 25000"/>
            </a:avLst>
          </a:prstGeom>
          <a:solidFill>
            <a:srgbClr val="2563EB"/>
          </a:solidFill>
          <a:ln w="12700">
            <a:solidFill>
              <a:srgbClr val="2563EB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59536" y="4169664"/>
            <a:ext cx="311810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Revenue layer 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859536" y="4389120"/>
            <a:ext cx="3118104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20" dirty="0">
                <a:solidFill>
                  <a:srgbClr val="34405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Later enterprise upside through analytics, integrations, and workflow extensions.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4407408" y="1554480"/>
            <a:ext cx="7260336" cy="3520440"/>
          </a:xfrm>
          <a:prstGeom prst="roundRect">
            <a:avLst>
              <a:gd name="adj" fmla="val 2078"/>
            </a:avLst>
          </a:prstGeom>
          <a:solidFill>
            <a:srgbClr val="0B1F44"/>
          </a:solidFill>
          <a:ln w="12700">
            <a:solidFill>
              <a:srgbClr val="0B1F4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54880" y="190195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CBD5E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Closing line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754880" y="2212848"/>
            <a:ext cx="63550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ZDT Realty is evolving from a listing portal into a trusted real estate operating system for India.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4754880" y="3886200"/>
            <a:ext cx="63093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D0D5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That phrasing is professional, credible, and strong for a founding-round or interview setting because it captures discovery, trust, intelligence, and operations in one sentence.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02920" y="5742432"/>
            <a:ext cx="11183112" cy="411480"/>
          </a:xfrm>
          <a:prstGeom prst="roundRect">
            <a:avLst>
              <a:gd name="adj" fmla="val 8889"/>
            </a:avLst>
          </a:prstGeom>
          <a:solidFill>
            <a:srgbClr val="DBEAFE"/>
          </a:solidFill>
          <a:ln w="12700">
            <a:solidFill>
              <a:srgbClr val="DBEAFE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31520" y="5843016"/>
            <a:ext cx="106984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2563E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Pitch angle: not another listing site. A multi-sided real-estate workflow platform.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5488" y="6510528"/>
            <a:ext cx="1371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ZDT Realty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8595360" y="6510528"/>
            <a:ext cx="3154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6708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Founding-round deck | live product screenshots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ZDT Realty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ZDT Realty Founding Round Pitch</dc:title>
  <dc:subject>Founding round pitch deck</dc:subject>
  <dc:creator>OpenAI Codex</dc:creator>
  <cp:lastModifiedBy>OpenAI Codex</cp:lastModifiedBy>
  <cp:revision>1</cp:revision>
  <dcterms:created xsi:type="dcterms:W3CDTF">2026-03-12T18:01:24Z</dcterms:created>
  <dcterms:modified xsi:type="dcterms:W3CDTF">2026-03-12T18:01:24Z</dcterms:modified>
</cp:coreProperties>
</file>